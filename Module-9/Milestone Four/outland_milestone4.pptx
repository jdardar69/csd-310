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9" r:id="rId10"/>
    <p:sldId id="264" r:id="rId11"/>
    <p:sldId id="270" r:id="rId12"/>
    <p:sldId id="265" r:id="rId13"/>
    <p:sldId id="271" r:id="rId14"/>
    <p:sldId id="266" r:id="rId15"/>
    <p:sldId id="267" r:id="rId16"/>
    <p:sldId id="268"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0" d="100"/>
          <a:sy n="70" d="100"/>
        </p:scale>
        <p:origin x="118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hyperlink" Target="https://pixabay.com/en/source-code-code-programming-c-583537/"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51000"/>
            <a:lum/>
            <a:extLst>
              <a:ext uri="{837473B0-CC2E-450A-ABE3-18F120FF3D39}">
                <a1611:picAttrSrcUrl xmlns:a1611="http://schemas.microsoft.com/office/drawing/2016/11/main" r:id="rId14"/>
              </a:ext>
            </a:extLst>
          </a:blip>
          <a:srcRect/>
          <a:stretch>
            <a:fillRect l="-16000" r="-16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Outland Adventures: Database System Project</a:t>
            </a:r>
          </a:p>
        </p:txBody>
      </p:sp>
      <p:sp>
        <p:nvSpPr>
          <p:cNvPr id="3" name="Content Placeholder 2"/>
          <p:cNvSpPr>
            <a:spLocks noGrp="1"/>
          </p:cNvSpPr>
          <p:nvPr>
            <p:ph idx="1"/>
          </p:nvPr>
        </p:nvSpPr>
        <p:spPr/>
        <p:txBody>
          <a:bodyPr/>
          <a:lstStyle/>
          <a:p>
            <a:pPr marL="0" indent="0" algn="ctr">
              <a:buNone/>
            </a:pPr>
            <a:r>
              <a:rPr b="1" u="sng" dirty="0"/>
              <a:t>Milestone 4 Presentation</a:t>
            </a:r>
          </a:p>
          <a:p>
            <a:pPr lvl="0" algn="ctr"/>
            <a:r>
              <a:rPr lang="en-US" dirty="0"/>
              <a:t>Jordan Dardar</a:t>
            </a:r>
          </a:p>
          <a:p>
            <a:pPr lvl="0" algn="ctr"/>
            <a:r>
              <a:rPr lang="en-US" dirty="0"/>
              <a:t>Alexander Baldree</a:t>
            </a:r>
          </a:p>
          <a:p>
            <a:pPr lvl="0" algn="ctr"/>
            <a:r>
              <a:rPr lang="en-US" dirty="0" err="1"/>
              <a:t>Aftabur</a:t>
            </a:r>
            <a:r>
              <a:rPr lang="en-US" dirty="0"/>
              <a:t> Rahman</a:t>
            </a:r>
          </a:p>
          <a:p>
            <a:pPr lvl="0" algn="ctr"/>
            <a:r>
              <a:rPr lang="en-US" dirty="0"/>
              <a:t>Maksymillian Jankowski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Introduction to Outland Adventures</a:t>
            </a:r>
          </a:p>
        </p:txBody>
      </p:sp>
      <p:sp>
        <p:nvSpPr>
          <p:cNvPr id="3" name="Content Placeholder 2"/>
          <p:cNvSpPr>
            <a:spLocks noGrp="1"/>
          </p:cNvSpPr>
          <p:nvPr>
            <p:ph idx="1"/>
          </p:nvPr>
        </p:nvSpPr>
        <p:spPr/>
        <p:txBody>
          <a:bodyPr/>
          <a:lstStyle/>
          <a:p>
            <a:r>
              <a:rPr dirty="0"/>
              <a:t>- Founded by Blythe </a:t>
            </a:r>
            <a:r>
              <a:rPr dirty="0" err="1"/>
              <a:t>Timmerson</a:t>
            </a:r>
            <a:r>
              <a:rPr dirty="0"/>
              <a:t> and Jim Ford</a:t>
            </a:r>
          </a:p>
          <a:p>
            <a:r>
              <a:rPr dirty="0"/>
              <a:t>- Guided hiking and camping trips</a:t>
            </a:r>
          </a:p>
          <a:p>
            <a:r>
              <a:rPr dirty="0"/>
              <a:t>- Destinations: Africa, Asia, Southern Europe</a:t>
            </a:r>
          </a:p>
          <a:p>
            <a:r>
              <a:rPr dirty="0"/>
              <a:t>- Equipment rental and sales</a:t>
            </a:r>
          </a:p>
          <a:p>
            <a:r>
              <a:rPr dirty="0"/>
              <a:t>- New e-commerce website for bookings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Case Study Problems to Solve</a:t>
            </a:r>
          </a:p>
        </p:txBody>
      </p:sp>
      <p:sp>
        <p:nvSpPr>
          <p:cNvPr id="3" name="Content Placeholder 2"/>
          <p:cNvSpPr>
            <a:spLocks noGrp="1"/>
          </p:cNvSpPr>
          <p:nvPr>
            <p:ph idx="1"/>
          </p:nvPr>
        </p:nvSpPr>
        <p:spPr/>
        <p:txBody>
          <a:bodyPr/>
          <a:lstStyle/>
          <a:p>
            <a:r>
              <a:t>1. Are equipment sales strong enough?</a:t>
            </a:r>
          </a:p>
          <a:p>
            <a:r>
              <a:t>2. Are any destinations trending downward?</a:t>
            </a:r>
          </a:p>
          <a:p>
            <a:r>
              <a:t>3. Is any equipment over five years old?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Business Rules (Part 1)</a:t>
            </a:r>
          </a:p>
        </p:txBody>
      </p:sp>
      <p:sp>
        <p:nvSpPr>
          <p:cNvPr id="3" name="Content Placeholder 2"/>
          <p:cNvSpPr>
            <a:spLocks noGrp="1"/>
          </p:cNvSpPr>
          <p:nvPr>
            <p:ph idx="1"/>
          </p:nvPr>
        </p:nvSpPr>
        <p:spPr/>
        <p:txBody>
          <a:bodyPr/>
          <a:lstStyle/>
          <a:p>
            <a:r>
              <a:t>- Customers can make multiple bookings</a:t>
            </a:r>
          </a:p>
          <a:p>
            <a:r>
              <a:t>- Each booking belongs to one trip schedule</a:t>
            </a:r>
          </a:p>
          <a:p>
            <a:r>
              <a:t>- Trips belong to one destination</a:t>
            </a:r>
          </a:p>
          <a:p>
            <a:r>
              <a:t>- Destinations can have multiple trips</a:t>
            </a:r>
          </a:p>
          <a:p>
            <a:r>
              <a:t>- Trips can have multiple scheduled dates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Business Rules (Part 2)</a:t>
            </a:r>
          </a:p>
        </p:txBody>
      </p:sp>
      <p:sp>
        <p:nvSpPr>
          <p:cNvPr id="3" name="Content Placeholder 2"/>
          <p:cNvSpPr>
            <a:spLocks noGrp="1"/>
          </p:cNvSpPr>
          <p:nvPr>
            <p:ph idx="1"/>
          </p:nvPr>
        </p:nvSpPr>
        <p:spPr/>
        <p:txBody>
          <a:bodyPr/>
          <a:lstStyle/>
          <a:p>
            <a:r>
              <a:rPr dirty="0"/>
              <a:t>- Guides can lead multiple trips</a:t>
            </a:r>
          </a:p>
          <a:p>
            <a:r>
              <a:rPr dirty="0"/>
              <a:t>- Each scheduled trip has one guide</a:t>
            </a:r>
          </a:p>
          <a:p>
            <a:r>
              <a:rPr dirty="0"/>
              <a:t>- Equipment may be rented or sold</a:t>
            </a:r>
          </a:p>
          <a:p>
            <a:r>
              <a:rPr dirty="0"/>
              <a:t>- Inventory tracks quantity and age</a:t>
            </a:r>
          </a:p>
          <a:p>
            <a:r>
              <a:rPr dirty="0"/>
              <a:t>- Customers can rent or buy multiple items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Entity-Relationship Diagram (ERD)</a:t>
            </a:r>
          </a:p>
        </p:txBody>
      </p:sp>
      <p:sp>
        <p:nvSpPr>
          <p:cNvPr id="3" name="Content Placeholder 2"/>
          <p:cNvSpPr>
            <a:spLocks noGrp="1"/>
          </p:cNvSpPr>
          <p:nvPr>
            <p:ph idx="1"/>
          </p:nvPr>
        </p:nvSpPr>
        <p:spPr/>
        <p:txBody>
          <a:bodyPr/>
          <a:lstStyle/>
          <a:p>
            <a:r>
              <a:rPr dirty="0"/>
              <a:t>Database diagram representing Outland Adventures system.</a:t>
            </a:r>
          </a:p>
        </p:txBody>
      </p:sp>
      <p:pic>
        <p:nvPicPr>
          <p:cNvPr id="4" name="Picture 3" descr="A diagram of a trip&#10;&#10;AI-generated content may be incorrect.">
            <a:extLst>
              <a:ext uri="{FF2B5EF4-FFF2-40B4-BE49-F238E27FC236}">
                <a16:creationId xmlns:a16="http://schemas.microsoft.com/office/drawing/2014/main" id="{00B0F1E1-5F1D-6EEE-462B-5CD93AFA1114}"/>
              </a:ext>
            </a:extLst>
          </p:cNvPr>
          <p:cNvPicPr>
            <a:picLocks noChangeAspect="1"/>
          </p:cNvPicPr>
          <p:nvPr/>
        </p:nvPicPr>
        <p:blipFill>
          <a:blip r:embed="rId2"/>
          <a:stretch>
            <a:fillRect/>
          </a:stretch>
        </p:blipFill>
        <p:spPr>
          <a:xfrm>
            <a:off x="1600200" y="2608262"/>
            <a:ext cx="5943600" cy="39751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Tables Overview</a:t>
            </a:r>
          </a:p>
        </p:txBody>
      </p:sp>
      <p:sp>
        <p:nvSpPr>
          <p:cNvPr id="3" name="Content Placeholder 2"/>
          <p:cNvSpPr>
            <a:spLocks noGrp="1"/>
          </p:cNvSpPr>
          <p:nvPr>
            <p:ph idx="1"/>
          </p:nvPr>
        </p:nvSpPr>
        <p:spPr/>
        <p:txBody>
          <a:bodyPr>
            <a:normAutofit fontScale="92500" lnSpcReduction="20000"/>
          </a:bodyPr>
          <a:lstStyle/>
          <a:p>
            <a:r>
              <a:t>- CUSTOMER</a:t>
            </a:r>
          </a:p>
          <a:p>
            <a:r>
              <a:t>- DESTINATION</a:t>
            </a:r>
          </a:p>
          <a:p>
            <a:r>
              <a:t>- TRIP</a:t>
            </a:r>
          </a:p>
          <a:p>
            <a:r>
              <a:t>- GUIDE</a:t>
            </a:r>
          </a:p>
          <a:p>
            <a:r>
              <a:t>- TRIP_SCHEDULE</a:t>
            </a:r>
          </a:p>
          <a:p>
            <a:r>
              <a:t>- BOOKING</a:t>
            </a:r>
          </a:p>
          <a:p>
            <a:r>
              <a:t>- EQUIPMENT</a:t>
            </a:r>
          </a:p>
          <a:p>
            <a:r>
              <a:t>- EQUIPMENT_RENTAL</a:t>
            </a:r>
          </a:p>
          <a:p>
            <a:r>
              <a:t>- EQUIPMENT_SALE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Report 1: Equipment Sales by Month</a:t>
            </a:r>
          </a:p>
        </p:txBody>
      </p:sp>
      <p:sp>
        <p:nvSpPr>
          <p:cNvPr id="3" name="Content Placeholder 2"/>
          <p:cNvSpPr>
            <a:spLocks noGrp="1"/>
          </p:cNvSpPr>
          <p:nvPr>
            <p:ph idx="1"/>
          </p:nvPr>
        </p:nvSpPr>
        <p:spPr/>
        <p:txBody>
          <a:bodyPr>
            <a:normAutofit fontScale="62500" lnSpcReduction="20000"/>
          </a:bodyPr>
          <a:lstStyle/>
          <a:p>
            <a:pPr marL="0" indent="0">
              <a:buNone/>
            </a:pPr>
            <a:r>
              <a:rPr lang="en-US" b="1" u="sng" dirty="0"/>
              <a:t>Description:</a:t>
            </a:r>
            <a:br>
              <a:rPr lang="en-US" dirty="0"/>
            </a:br>
            <a:r>
              <a:rPr lang="en-US" dirty="0"/>
              <a:t>This report shows how many pieces of equipment were sold each month and how much money those sales brought in. It groups the sales by month and adds up both the number of items sold and the total revenue for that month. This helps Outland Adventures see whether customers are still buying equipment on a regular basis or if sales are slowing down.</a:t>
            </a:r>
          </a:p>
          <a:p>
            <a:pPr marL="0" indent="0">
              <a:buNone/>
            </a:pPr>
            <a:r>
              <a:rPr lang="en-US" b="1" u="sng" dirty="0"/>
              <a:t>Why it matters:</a:t>
            </a:r>
            <a:br>
              <a:rPr lang="en-US" dirty="0"/>
            </a:br>
            <a:r>
              <a:rPr lang="en-US" dirty="0"/>
              <a:t>One of the main questions from the case study is whether equipment sales are strong enough to justify continuing the sales portion of the business. By measuring monthly equipment sales, the company can see if sales are steady, increasing, or dropping off, which helps Blythe and Jim decide if they should keep selling gear, expand the inventory, or reduce the sales operation.</a:t>
            </a:r>
          </a:p>
          <a:p>
            <a:endParaRPr lang="en-US" dirty="0"/>
          </a:p>
          <a:p>
            <a:r>
              <a:rPr lang="en-US" dirty="0"/>
              <a:t>Evaluates monthly sales and revenue trends.</a:t>
            </a:r>
          </a:p>
          <a:p>
            <a:r>
              <a:rPr lang="en-US" dirty="0"/>
              <a:t>Determines if equipment sales should continue.</a:t>
            </a:r>
          </a:p>
          <a:p>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3B6F8C6-7579-DA93-55B3-AA767AF0F73D}"/>
              </a:ext>
            </a:extLst>
          </p:cNvPr>
          <p:cNvPicPr>
            <a:picLocks noGrp="1" noChangeAspect="1"/>
          </p:cNvPicPr>
          <p:nvPr>
            <p:ph idx="1"/>
          </p:nvPr>
        </p:nvPicPr>
        <p:blipFill>
          <a:blip r:embed="rId2"/>
          <a:stretch>
            <a:fillRect/>
          </a:stretch>
        </p:blipFill>
        <p:spPr>
          <a:xfrm>
            <a:off x="457200" y="1601565"/>
            <a:ext cx="8229600" cy="4523232"/>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676C4D84-BD50-8AF3-1FC9-80271E381A18}"/>
              </a:ext>
            </a:extLst>
          </p:cNvPr>
          <p:cNvPicPr>
            <a:picLocks noChangeAspect="1"/>
          </p:cNvPicPr>
          <p:nvPr/>
        </p:nvPicPr>
        <p:blipFill>
          <a:blip r:embed="rId3"/>
          <a:stretch>
            <a:fillRect/>
          </a:stretch>
        </p:blipFill>
        <p:spPr>
          <a:xfrm>
            <a:off x="374904" y="234569"/>
            <a:ext cx="8311896" cy="6146896"/>
          </a:xfrm>
          <a:prstGeom prst="rect">
            <a:avLst/>
          </a:prstGeom>
        </p:spPr>
      </p:pic>
    </p:spTree>
    <p:extLst>
      <p:ext uri="{BB962C8B-B14F-4D97-AF65-F5344CB8AC3E}">
        <p14:creationId xmlns:p14="http://schemas.microsoft.com/office/powerpoint/2010/main" val="1301460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Report 2: Bookings by Destination &amp; Month</a:t>
            </a:r>
          </a:p>
        </p:txBody>
      </p:sp>
      <p:sp>
        <p:nvSpPr>
          <p:cNvPr id="3" name="Content Placeholder 2"/>
          <p:cNvSpPr>
            <a:spLocks noGrp="1"/>
          </p:cNvSpPr>
          <p:nvPr>
            <p:ph idx="1"/>
          </p:nvPr>
        </p:nvSpPr>
        <p:spPr/>
        <p:txBody>
          <a:bodyPr>
            <a:normAutofit fontScale="62500" lnSpcReduction="20000"/>
          </a:bodyPr>
          <a:lstStyle/>
          <a:p>
            <a:pPr marL="0" indent="0">
              <a:buNone/>
            </a:pPr>
            <a:r>
              <a:rPr lang="en-US" b="1" u="sng" dirty="0"/>
              <a:t>Description:</a:t>
            </a:r>
            <a:br>
              <a:rPr lang="en-US" dirty="0"/>
            </a:br>
            <a:r>
              <a:rPr lang="en-US" dirty="0"/>
              <a:t>This report shows how many bookings each region (Africa, Asia, or Southern Europe) receives each month. It pulls booking information, connects it to the scheduled trips, and then ties those trips back to their destination regions. It organizes the results by region and month so it is easy to compare how each area is performing over time.</a:t>
            </a:r>
          </a:p>
          <a:p>
            <a:pPr marL="0" indent="0">
              <a:buNone/>
            </a:pPr>
            <a:r>
              <a:rPr lang="en-US" b="1" u="sng" dirty="0"/>
              <a:t>Why it matters:</a:t>
            </a:r>
            <a:br>
              <a:rPr lang="en-US" dirty="0"/>
            </a:br>
            <a:r>
              <a:rPr lang="en-US" dirty="0"/>
              <a:t>The case study mentions that Blythe and Jim want to know if any of their main regions are showing a downward trend in bookings. By looking at the number of bookings per month for each destination, they can quickly identify whether interest in Africa, Asia, or Southern Europe is increasing or falling. This helps them make decisions about advertising, staffing guides, or possibly removing or replacing underperforming trips.</a:t>
            </a:r>
          </a:p>
          <a:p>
            <a:endParaRPr lang="en-US" dirty="0"/>
          </a:p>
          <a:p>
            <a:r>
              <a:rPr lang="en-US" dirty="0"/>
              <a:t>Shows booking trends by region.</a:t>
            </a:r>
          </a:p>
          <a:p>
            <a:r>
              <a:rPr lang="en-US" dirty="0"/>
              <a:t>Identifies declining destinations.</a:t>
            </a:r>
          </a:p>
          <a:p>
            <a:pPr marL="0" indent="0">
              <a:buNone/>
            </a:pPr>
            <a:endParaRPr lang="en-US" dirty="0"/>
          </a:p>
          <a:p>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86E40846-4ABC-EE3A-DB48-62DA1970F7AC}"/>
              </a:ext>
            </a:extLst>
          </p:cNvPr>
          <p:cNvPicPr>
            <a:picLocks noGrp="1" noChangeAspect="1"/>
          </p:cNvPicPr>
          <p:nvPr>
            <p:ph idx="1"/>
          </p:nvPr>
        </p:nvPicPr>
        <p:blipFill>
          <a:blip r:embed="rId2"/>
          <a:stretch>
            <a:fillRect/>
          </a:stretch>
        </p:blipFill>
        <p:spPr>
          <a:xfrm>
            <a:off x="370162" y="320040"/>
            <a:ext cx="8545238" cy="6284343"/>
          </a:xfrm>
          <a:prstGeom prst="rect">
            <a:avLst/>
          </a:prstGeom>
        </p:spPr>
      </p:pic>
    </p:spTree>
    <p:extLst>
      <p:ext uri="{BB962C8B-B14F-4D97-AF65-F5344CB8AC3E}">
        <p14:creationId xmlns:p14="http://schemas.microsoft.com/office/powerpoint/2010/main" val="21462825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Report 3: Equipment Over Five Years Old</a:t>
            </a:r>
          </a:p>
        </p:txBody>
      </p:sp>
      <p:sp>
        <p:nvSpPr>
          <p:cNvPr id="3" name="Content Placeholder 2"/>
          <p:cNvSpPr>
            <a:spLocks noGrp="1"/>
          </p:cNvSpPr>
          <p:nvPr>
            <p:ph idx="1"/>
          </p:nvPr>
        </p:nvSpPr>
        <p:spPr/>
        <p:txBody>
          <a:bodyPr>
            <a:normAutofit fontScale="62500" lnSpcReduction="20000"/>
          </a:bodyPr>
          <a:lstStyle/>
          <a:p>
            <a:pPr marL="0" indent="0">
              <a:buNone/>
            </a:pPr>
            <a:r>
              <a:rPr lang="en-US" b="1" u="sng" dirty="0"/>
              <a:t>Description:</a:t>
            </a:r>
            <a:br>
              <a:rPr lang="en-US" dirty="0"/>
            </a:br>
            <a:r>
              <a:rPr lang="en-US" dirty="0"/>
              <a:t>This report lists all equipment items that are more than five years old. It shows the item name, the type of equipment, the quantity currently available, and how old the equipment is. This helps identify older items that may not be reliable anymore or that may need to be replaced soon.</a:t>
            </a:r>
          </a:p>
          <a:p>
            <a:pPr marL="0" indent="0">
              <a:buNone/>
            </a:pPr>
            <a:r>
              <a:rPr lang="en-US" b="1" u="sng" dirty="0"/>
              <a:t>Why it matters:</a:t>
            </a:r>
            <a:br>
              <a:rPr lang="en-US" dirty="0"/>
            </a:br>
            <a:r>
              <a:rPr lang="en-US" dirty="0"/>
              <a:t>The case study mentions that Outland Adventures is worried about the age of some of their equipment. Older gear can be unsafe, unreliable, or less attractive to customers. By identifying which items are past five years of age, the company can decide what to replace, what to repair, and how to manage their inventory so customers always receive safe, high-quality equipment.</a:t>
            </a:r>
          </a:p>
          <a:p>
            <a:endParaRPr lang="en-US" dirty="0"/>
          </a:p>
          <a:p>
            <a:r>
              <a:rPr lang="en-US" dirty="0"/>
              <a:t>Lists aging or potentially unsafe equipment.</a:t>
            </a:r>
          </a:p>
          <a:p>
            <a:r>
              <a:rPr lang="en-US" dirty="0"/>
              <a:t>Helps with replacement decisions.</a:t>
            </a:r>
          </a:p>
          <a:p>
            <a:pPr marL="0" indent="0">
              <a:buNone/>
            </a:pPr>
            <a:endParaRPr lang="en-US" dirty="0"/>
          </a:p>
          <a:p>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409AC08B-9632-D830-5EED-47E24D3C4362}"/>
              </a:ext>
            </a:extLst>
          </p:cNvPr>
          <p:cNvPicPr>
            <a:picLocks noGrp="1" noChangeAspect="1"/>
          </p:cNvPicPr>
          <p:nvPr>
            <p:ph idx="1"/>
          </p:nvPr>
        </p:nvPicPr>
        <p:blipFill>
          <a:blip r:embed="rId2"/>
          <a:stretch>
            <a:fillRect/>
          </a:stretch>
        </p:blipFill>
        <p:spPr>
          <a:xfrm>
            <a:off x="260734" y="265176"/>
            <a:ext cx="8608945" cy="6350687"/>
          </a:xfrm>
          <a:prstGeom prst="rect">
            <a:avLst/>
          </a:prstGeom>
        </p:spPr>
      </p:pic>
    </p:spTree>
    <p:extLst>
      <p:ext uri="{BB962C8B-B14F-4D97-AF65-F5344CB8AC3E}">
        <p14:creationId xmlns:p14="http://schemas.microsoft.com/office/powerpoint/2010/main" val="23211092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Findings</a:t>
            </a:r>
          </a:p>
        </p:txBody>
      </p:sp>
      <p:sp>
        <p:nvSpPr>
          <p:cNvPr id="3" name="Content Placeholder 2"/>
          <p:cNvSpPr>
            <a:spLocks noGrp="1"/>
          </p:cNvSpPr>
          <p:nvPr>
            <p:ph idx="1"/>
          </p:nvPr>
        </p:nvSpPr>
        <p:spPr/>
        <p:txBody>
          <a:bodyPr/>
          <a:lstStyle/>
          <a:p>
            <a:r>
              <a:t>- Monthly equipment sales trends observed</a:t>
            </a:r>
          </a:p>
          <a:p>
            <a:r>
              <a:t>- Destination booking patterns identified</a:t>
            </a:r>
          </a:p>
          <a:p>
            <a:r>
              <a:t>- Old equipment flagged for replacement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Recommendations</a:t>
            </a:r>
          </a:p>
        </p:txBody>
      </p:sp>
      <p:sp>
        <p:nvSpPr>
          <p:cNvPr id="3" name="Content Placeholder 2"/>
          <p:cNvSpPr>
            <a:spLocks noGrp="1"/>
          </p:cNvSpPr>
          <p:nvPr>
            <p:ph idx="1"/>
          </p:nvPr>
        </p:nvSpPr>
        <p:spPr/>
        <p:txBody>
          <a:bodyPr/>
          <a:lstStyle/>
          <a:p>
            <a:r>
              <a:t>- Maintain or adjust equipment sales strategy</a:t>
            </a:r>
          </a:p>
          <a:p>
            <a:r>
              <a:t>- Improve marketing for low-performing regions</a:t>
            </a:r>
          </a:p>
          <a:p>
            <a:r>
              <a:t>- Replace equipment older than five years</a:t>
            </a:r>
          </a:p>
          <a:p>
            <a:r>
              <a:t>- Continue to develop e-commerce presence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Our database system organizes key business data,</a:t>
            </a:r>
          </a:p>
          <a:p>
            <a:r>
              <a:t>answers critical questions, and supports future growth.</a:t>
            </a:r>
          </a:p>
          <a:p>
            <a:endParaRPr/>
          </a:p>
          <a:p>
            <a: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20</TotalTime>
  <Words>758</Words>
  <Application>Microsoft Office PowerPoint</Application>
  <PresentationFormat>On-screen Show (4:3)</PresentationFormat>
  <Paragraphs>72</Paragraphs>
  <Slides>16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Outland Adventures: Database System Project</vt:lpstr>
      <vt:lpstr>Introduction to Outland Adventures</vt:lpstr>
      <vt:lpstr>Case Study Problems to Solve</vt:lpstr>
      <vt:lpstr>Business Rules (Part 1)</vt:lpstr>
      <vt:lpstr>Business Rules (Part 2)</vt:lpstr>
      <vt:lpstr>Entity-Relationship Diagram (ERD)</vt:lpstr>
      <vt:lpstr>Tables Overview</vt:lpstr>
      <vt:lpstr>Report 1: Equipment Sales by Month</vt:lpstr>
      <vt:lpstr>PowerPoint Presentation</vt:lpstr>
      <vt:lpstr>Report 2: Bookings by Destination &amp; Month</vt:lpstr>
      <vt:lpstr>PowerPoint Presentation</vt:lpstr>
      <vt:lpstr>Report 3: Equipment Over Five Years Old</vt:lpstr>
      <vt:lpstr>PowerPoint Presentation</vt:lpstr>
      <vt:lpstr>Key Findings</vt:lpstr>
      <vt:lpstr>Recommendations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Jordan Dardar</dc:creator>
  <cp:keywords/>
  <dc:description>generated using python-pptx</dc:description>
  <cp:lastModifiedBy>Jordan Dardar</cp:lastModifiedBy>
  <cp:revision>4</cp:revision>
  <dcterms:created xsi:type="dcterms:W3CDTF">2013-01-27T09:14:16Z</dcterms:created>
  <dcterms:modified xsi:type="dcterms:W3CDTF">2025-12-04T06:39:05Z</dcterms:modified>
  <cp:category/>
</cp:coreProperties>
</file>